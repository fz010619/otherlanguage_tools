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F766E"/>
                </a:solidFill>
                <a:latin typeface="Microsoft YaHei"/>
              </a:defRPr>
            </a:pPr>
            <a:r>
              <a:t>福州中心城区公园绿地服务空间公平性评价系统汇报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B82F6"/>
                </a:solidFill>
                <a:latin typeface="Microsoft YaHei"/>
              </a:defRPr>
            </a:pPr>
            <a:r>
              <a:t>基于 PostGIS 与 WebGIS 的多维评价模型研究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54880"/>
            <a:ext cx="10789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334155"/>
                </a:solidFill>
                <a:latin typeface="Microsoft YaHei"/>
              </a:defRPr>
            </a:pPr>
            <a:r>
              <a:t>汇报人：[您的姓名]</a:t>
            </a:r>
          </a:p>
          <a:p>
            <a:pPr>
              <a:spcBef>
                <a:spcPts val="400"/>
              </a:spcBef>
              <a:defRPr sz="1800">
                <a:solidFill>
                  <a:srgbClr val="334155"/>
                </a:solidFill>
                <a:latin typeface="Microsoft YaHei"/>
              </a:defRPr>
            </a:pPr>
            <a:r>
              <a:t>技术栈：PostGIS + FastAPI + Leaflet + ECharts</a:t>
            </a:r>
          </a:p>
          <a:p>
            <a:pPr>
              <a:spcBef>
                <a:spcPts val="400"/>
              </a:spcBef>
              <a:defRPr sz="1800">
                <a:solidFill>
                  <a:srgbClr val="334155"/>
                </a:solidFill>
                <a:latin typeface="Microsoft YaHei"/>
              </a:defRPr>
            </a:pPr>
            <a:r>
              <a:t>日期：2026年4月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76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800">
                <a:solidFill>
                  <a:srgbClr val="FFFFFF"/>
                </a:solidFill>
              </a:defRPr>
            </a:pPr>
            <a:r>
              <a:t>[Slide 2: 研究背景与意义]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914400"/>
            <a:ext cx="11368735" cy="5623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143000"/>
            <a:ext cx="1072865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spcAft>
                <a:spcPts val="600"/>
              </a:spcAft>
              <a:defRPr sz="1800">
                <a:solidFill>
                  <a:srgbClr val="1E293B"/>
                </a:solidFill>
                <a:latin typeface="Microsoft YaHei"/>
              </a:defRPr>
            </a:pPr>
            <a:r>
              <a:t>政策响应：贯彻'15分钟社区生活圈'规划，探索城市公共资源分配的公平性。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600"/>
              </a:spcAft>
              <a:defRPr sz="1800">
                <a:solidFill>
                  <a:srgbClr val="1E293B"/>
                </a:solidFill>
                <a:latin typeface="Microsoft YaHei"/>
              </a:defRPr>
            </a:pPr>
            <a:r>
              <a:t>研究痛点：传统静态统计忽略了真实步行路网成本，难以识别微观尺度的'空间错位'。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600"/>
              </a:spcAft>
              <a:defRPr sz="1800">
                <a:solidFill>
                  <a:srgbClr val="1E293B"/>
                </a:solidFill>
                <a:latin typeface="Microsoft YaHei"/>
              </a:defRPr>
            </a:pPr>
            <a:r>
              <a:t>研究目标：利用 GIS 技术量化评价公园绿地的可达性，为'精准规划'提供数据支撑。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76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800">
                <a:solidFill>
                  <a:srgbClr val="FFFFFF"/>
                </a:solidFill>
              </a:defRPr>
            </a:pPr>
            <a:r>
              <a:t>[Slide 3: 系统整体架构]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914400"/>
            <a:ext cx="11368735" cy="5623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143000"/>
            <a:ext cx="1072865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3B82F6"/>
                </a:solidFill>
                <a:latin typeface="Microsoft YaHei"/>
              </a:defRPr>
            </a:pPr>
            <a:r>
              <a:t>技术路线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Microsoft YaHei"/>
              </a:defRPr>
            </a:pPr>
            <a:r>
              <a:t>数据层 (PostGIS)：存储街道空间边界、人口属性及公园几何，实现 ST_Area/ST_Intersection 空间运算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Microsoft YaHei"/>
              </a:defRPr>
            </a:pPr>
            <a:r>
              <a:t>逻辑层 (FastAPI)：封装公平性算法逻辑，支持多维度 API 响应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Microsoft YaHei"/>
              </a:defRPr>
            </a:pPr>
            <a:r>
              <a:t>表现层 (Leaflet &amp; ECharts)：Leaflet 负责 15min 等时圈及街道盲区分级色彩展示；ECharts 负责洛伦兹曲线与群体差异图表实时渲染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76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800">
                <a:solidFill>
                  <a:srgbClr val="FFFFFF"/>
                </a:solidFill>
              </a:defRPr>
            </a:pPr>
            <a:r>
              <a:t>[Slide 4: 核心评价指标体系]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914400"/>
            <a:ext cx="11368735" cy="5623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143000"/>
            <a:ext cx="1072865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spcAft>
                <a:spcPts val="600"/>
              </a:spcAft>
              <a:defRPr sz="1800">
                <a:solidFill>
                  <a:srgbClr val="1E293B"/>
                </a:solidFill>
                <a:latin typeface="Microsoft YaHei"/>
              </a:defRPr>
            </a:pPr>
            <a:r>
              <a:t>15分钟服务覆盖率：基于路网拓扑的 15min 步行范围内的可达性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600"/>
              </a:spcAft>
              <a:defRPr sz="1800">
                <a:solidFill>
                  <a:srgbClr val="1E293B"/>
                </a:solidFill>
                <a:latin typeface="Microsoft YaHei"/>
              </a:defRPr>
            </a:pPr>
            <a:r>
              <a:t>基尼系数 (Gini)：量化资源分配的不均衡程度 (0.0 - 1.0)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600"/>
              </a:spcAft>
              <a:defRPr sz="1800">
                <a:solidFill>
                  <a:srgbClr val="1E293B"/>
                </a:solidFill>
                <a:latin typeface="Microsoft YaHei"/>
              </a:defRPr>
            </a:pPr>
            <a:r>
              <a:t>洛伦兹曲线 (Lorenz)：直观展示人口比例与资源占有比例的偏离度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600"/>
              </a:spcAft>
              <a:defRPr sz="1800">
                <a:solidFill>
                  <a:srgbClr val="1E293B"/>
                </a:solidFill>
                <a:latin typeface="Microsoft YaHei"/>
              </a:defRPr>
            </a:pPr>
            <a:r>
              <a:t>老龄化倾向性：结合 elderly_rate 评估社会弱势群体的公平感知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76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800">
                <a:solidFill>
                  <a:srgbClr val="FFFFFF"/>
                </a:solidFill>
              </a:defRPr>
            </a:pPr>
            <a:r>
              <a:t>[Slide 5: 数据预处理与拓扑构建]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914400"/>
            <a:ext cx="11368735" cy="5623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143000"/>
            <a:ext cx="1072865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spcAft>
                <a:spcPts val="600"/>
              </a:spcAft>
              <a:defRPr sz="1800">
                <a:solidFill>
                  <a:srgbClr val="1E293B"/>
                </a:solidFill>
                <a:latin typeface="Microsoft YaHei"/>
              </a:defRPr>
            </a:pPr>
            <a:r>
              <a:t>坐标统一：强制执行 EPSG:3857 投影坐标系转换，确保面积计算物理含义准确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600"/>
              </a:spcAft>
              <a:defRPr sz="1800">
                <a:solidFill>
                  <a:srgbClr val="1E293B"/>
                </a:solidFill>
                <a:latin typeface="Microsoft YaHei"/>
              </a:defRPr>
            </a:pPr>
            <a:r>
              <a:t>数据清洗：剔除人口数为 0 的无效街道，归一化 service_rate 参数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600"/>
              </a:spcAft>
              <a:defRPr sz="1800">
                <a:solidFill>
                  <a:srgbClr val="1E293B"/>
                </a:solidFill>
                <a:latin typeface="Microsoft YaHei"/>
              </a:defRPr>
            </a:pPr>
            <a:r>
              <a:t>动态邻域统计：支持'全区'与'点击街道邻域(最近 5-9 个街道)'两种动态统计模式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76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800">
                <a:solidFill>
                  <a:srgbClr val="FFFFFF"/>
                </a:solidFill>
              </a:defRPr>
            </a:pPr>
            <a:r>
              <a:t>[Slide 6: 结果展示 - 空间分布与盲区]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914400"/>
            <a:ext cx="11368735" cy="5623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143000"/>
            <a:ext cx="1072865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spcAft>
                <a:spcPts val="600"/>
              </a:spcAft>
              <a:defRPr sz="1800">
                <a:solidFill>
                  <a:srgbClr val="1E293B"/>
                </a:solidFill>
                <a:latin typeface="Microsoft YaHei"/>
              </a:defRPr>
            </a:pPr>
            <a:r>
              <a:t>总体水平：全区平均服务覆盖率为 35.84%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600"/>
              </a:spcAft>
              <a:defRPr sz="1800">
                <a:solidFill>
                  <a:srgbClr val="1E293B"/>
                </a:solidFill>
                <a:latin typeface="Microsoft YaHei"/>
              </a:defRPr>
            </a:pPr>
            <a:r>
              <a:t>关键盲区：仓山街道、荫营镇街道为'特别加强盲区' (覆盖率仅 10%)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600"/>
              </a:spcAft>
              <a:defRPr sz="1800">
                <a:solidFill>
                  <a:srgbClr val="1E293B"/>
                </a:solidFill>
                <a:latin typeface="Microsoft YaHei"/>
              </a:defRPr>
            </a:pPr>
            <a:r>
              <a:t>空间特征：呈现明显的'两极分化'，中心街道服务饱和，边缘大体量街道资源匮乏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76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800">
                <a:solidFill>
                  <a:srgbClr val="FFFFFF"/>
                </a:solidFill>
              </a:defRPr>
            </a:pPr>
            <a:r>
              <a:t>[Slide 7: 结果展示 - 公平性分析]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914400"/>
            <a:ext cx="11368735" cy="5623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143000"/>
            <a:ext cx="1072865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spcAft>
                <a:spcPts val="600"/>
              </a:spcAft>
              <a:defRPr sz="1800">
                <a:solidFill>
                  <a:srgbClr val="1E293B"/>
                </a:solidFill>
                <a:latin typeface="Microsoft YaHei"/>
              </a:defRPr>
            </a:pPr>
            <a:r>
              <a:t>基尼系数：实时计算结果为 0.5582，处于'高度不均衡'区间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600"/>
              </a:spcAft>
              <a:defRPr sz="1800">
                <a:solidFill>
                  <a:srgbClr val="1E293B"/>
                </a:solidFill>
                <a:latin typeface="Microsoft YaHei"/>
              </a:defRPr>
            </a:pPr>
            <a:r>
              <a:t>资源集中度：前 20% 的优势人口占有了 67.61% 的公园资源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600"/>
              </a:spcAft>
              <a:defRPr sz="1800">
                <a:solidFill>
                  <a:srgbClr val="1E293B"/>
                </a:solidFill>
                <a:latin typeface="Microsoft YaHei"/>
              </a:defRPr>
            </a:pPr>
            <a:r>
              <a:t>不均衡特征：资源严重向优势地段集中，验证了干预的紧迫性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76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800">
                <a:solidFill>
                  <a:srgbClr val="FFFFFF"/>
                </a:solidFill>
              </a:defRPr>
            </a:pPr>
            <a:r>
              <a:t>[Slide 8: 结果展示 - 弱势群体可达性]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914400"/>
            <a:ext cx="11368735" cy="5623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143000"/>
            <a:ext cx="1072865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spcAft>
                <a:spcPts val="600"/>
              </a:spcAft>
              <a:defRPr sz="1800">
                <a:solidFill>
                  <a:srgbClr val="1E293B"/>
                </a:solidFill>
                <a:latin typeface="Microsoft YaHei"/>
              </a:defRPr>
            </a:pPr>
            <a:r>
              <a:t>核心矛盾：荫营镇街道老龄化比例 (32.83%) 全区最高，但覆盖率 (10%) 处于洼地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600"/>
              </a:spcAft>
              <a:defRPr sz="1800">
                <a:solidFill>
                  <a:srgbClr val="1E293B"/>
                </a:solidFill>
                <a:latin typeface="Microsoft YaHei"/>
              </a:defRPr>
            </a:pPr>
            <a:r>
              <a:t>群体差异：老龄化重点街道的资源配置滞后于其社会需求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600"/>
              </a:spcAft>
              <a:defRPr sz="1800">
                <a:solidFill>
                  <a:srgbClr val="1E293B"/>
                </a:solidFill>
                <a:latin typeface="Microsoft YaHei"/>
              </a:defRPr>
            </a:pPr>
            <a:r>
              <a:t>可达性赤字：存在显著的公平性缺口，老龄人口的服务获取力严重不足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76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800">
                <a:solidFill>
                  <a:srgbClr val="FFFFFF"/>
                </a:solidFill>
              </a:defRPr>
            </a:pPr>
            <a:r>
              <a:t>[Slide 9: 结论与规划建议]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914400"/>
            <a:ext cx="11368735" cy="5623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143000"/>
            <a:ext cx="1072865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3B82F6"/>
                </a:solidFill>
                <a:latin typeface="Microsoft YaHei"/>
              </a:defRPr>
            </a:pPr>
            <a:r>
              <a:t>精准建议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Microsoft YaHei"/>
              </a:defRPr>
            </a:pPr>
            <a:r>
              <a:t>系统成功识别了福州中心城区的资源配置死角，Gini 系数验证了干预的紧迫性。</a:t>
            </a:r>
          </a:p>
          <a:p/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Microsoft YaHei"/>
              </a:defRPr>
            </a:pPr>
            <a:r>
              <a:t>精准补短板：在识别出的盲区 (仓山、荫营镇) 优先布局'口袋公园'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Microsoft YaHei"/>
              </a:defRPr>
            </a:pPr>
            <a:r>
              <a:t>适老化改造：在老龄化高密度区通过微更新手段打通慢行系统，消除空间屏障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Microsoft YaHei"/>
              </a:defRPr>
            </a:pPr>
            <a:r>
              <a:t>动态考核：将 WebGIS 公平性指标纳入年度城市规划动态考核体系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  <a:defRPr sz="5400" b="1">
                <a:solidFill>
                  <a:srgbClr val="0F766E"/>
                </a:solidFill>
                <a:latin typeface="Microsoft YaHei"/>
              </a:defRPr>
            </a:pPr>
            <a:r>
              <a:t>Q &amp; A</a:t>
            </a:r>
          </a:p>
          <a:p>
            <a:pPr algn="ctr">
              <a:spcBef>
                <a:spcPts val="0"/>
              </a:spcBef>
              <a:spcAft>
                <a:spcPts val="800"/>
              </a:spcAft>
              <a:defRPr sz="3200" b="0">
                <a:solidFill>
                  <a:srgbClr val="475569"/>
                </a:solidFill>
                <a:latin typeface="Microsoft YaHei"/>
              </a:defRPr>
            </a:pPr>
            <a:r>
              <a:t>感谢聆听，欢迎提问！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