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a:pPr>
              <a:defRPr sz="4400" b="1">
                <a:solidFill>
                  <a:srgbClr val="0F766E"/>
                </a:solidFill>
                <a:latin typeface="微软雅黑" panose="020B0503020204020204" charset="-122"/>
              </a:defRPr>
            </a:pPr>
            <a:r>
              <a:t>福州市公共服务设施可达性分析与多模态路径规划平台</a:t>
            </a:r>
          </a:p>
        </p:txBody>
      </p:sp>
      <p:sp>
        <p:nvSpPr>
          <p:cNvPr id="3" name="Subtitle 2"/>
          <p:cNvSpPr>
            <a:spLocks noGrp="1"/>
          </p:cNvSpPr>
          <p:nvPr>
            <p:ph type="subTitle" idx="1"/>
          </p:nvPr>
        </p:nvSpPr>
        <p:spPr/>
        <p:txBody>
          <a:bodyPr/>
          <a:lstStyle/>
          <a:p/>
        </p:txBody>
      </p:sp>
      <p:sp>
        <p:nvSpPr>
          <p:cNvPr id="4" name="Rectangle 3"/>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2286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023360"/>
            <a:ext cx="10789920" cy="1645920"/>
          </a:xfrm>
          <a:prstGeom prst="rect">
            <a:avLst/>
          </a:prstGeom>
          <a:noFill/>
        </p:spPr>
        <p:txBody>
          <a:bodyPr wrap="none">
            <a:spAutoFit/>
          </a:bodyPr>
          <a:lstStyle/>
          <a:p>
            <a:pPr algn="l">
              <a:defRPr sz="2000">
                <a:solidFill>
                  <a:srgbClr val="334155"/>
                </a:solidFill>
                <a:latin typeface="微软雅黑" panose="020B0503020204020204" charset="-122"/>
              </a:defRPr>
            </a:pPr>
            <a:r>
              <a:t>汇报人：[您的姓名]</a:t>
            </a:r>
          </a:p>
          <a:p>
            <a:pPr algn="l">
              <a:defRPr sz="2000">
                <a:solidFill>
                  <a:srgbClr val="334155"/>
                </a:solidFill>
                <a:latin typeface="微软雅黑" panose="020B0503020204020204" charset="-122"/>
              </a:defRPr>
            </a:pPr>
            <a:r>
              <a:t>基于 PostGIS + pgRouting 的城市交通大数据应用</a:t>
            </a:r>
          </a:p>
          <a:p>
            <a:pPr algn="l">
              <a:defRPr sz="2000">
                <a:solidFill>
                  <a:srgbClr val="334155"/>
                </a:solidFill>
                <a:latin typeface="微软雅黑" panose="020B0503020204020204" charset="-122"/>
              </a:defRPr>
            </a:pPr>
            <a:r>
              <a:t>2026年3月</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Rectangle 3"/>
          <p:cNvSpPr/>
          <p:nvPr/>
        </p:nvSpPr>
        <p:spPr>
          <a:xfrm>
            <a:off x="0" y="0"/>
            <a:ext cx="12191695" cy="6858000"/>
          </a:xfrm>
          <a:prstGeom prst="rect">
            <a:avLst/>
          </a:prstGeom>
          <a:solidFill>
            <a:srgbClr val="F8FAFC"/>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31520"/>
          </a:xfrm>
          <a:prstGeom prst="rect">
            <a:avLst/>
          </a:prstGeom>
          <a:solidFill>
            <a:srgbClr val="0F766E"/>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7160"/>
            <a:ext cx="11277295" cy="457200"/>
          </a:xfrm>
          <a:prstGeom prst="rect">
            <a:avLst/>
          </a:prstGeom>
          <a:noFill/>
        </p:spPr>
        <p:txBody>
          <a:bodyPr wrap="none">
            <a:spAutoFit/>
          </a:bodyPr>
          <a:lstStyle/>
          <a:p>
            <a:pPr algn="l">
              <a:defRPr sz="2800" b="1">
                <a:solidFill>
                  <a:srgbClr val="FFFFFF"/>
                </a:solidFill>
              </a:defRPr>
            </a:pPr>
            <a:r>
              <a:t>01 项目背景与研究意义</a:t>
            </a:r>
          </a:p>
        </p:txBody>
      </p:sp>
      <p:sp>
        <p:nvSpPr>
          <p:cNvPr id="7" name="Rounded Rectangle 6"/>
          <p:cNvSpPr/>
          <p:nvPr/>
        </p:nvSpPr>
        <p:spPr>
          <a:xfrm>
            <a:off x="411480" y="914400"/>
            <a:ext cx="11368735" cy="5623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143000"/>
            <a:ext cx="10728655" cy="5074920"/>
          </a:xfrm>
          <a:prstGeom prst="rect">
            <a:avLst/>
          </a:prstGeom>
          <a:noFill/>
        </p:spPr>
        <p:txBody>
          <a:bodyPr wrap="square">
            <a:spAutoFit/>
          </a:bodyPr>
          <a:lstStyle/>
          <a:p>
            <a:pPr>
              <a:lnSpc>
                <a:spcPct val="130000"/>
              </a:lnSpc>
              <a:spcBef>
                <a:spcPts val="800"/>
              </a:spcBef>
              <a:defRPr sz="1800" b="1">
                <a:solidFill>
                  <a:srgbClr val="1E293B"/>
                </a:solidFill>
                <a:latin typeface="微软雅黑" panose="020B0503020204020204" charset="-122"/>
              </a:defRPr>
            </a:pPr>
            <a:r>
              <a:t>研究背景：响应“15分钟社区生活圈”规划要求，评估城市公共设施的服务公平性与便利度。</a:t>
            </a:r>
          </a:p>
          <a:p>
            <a:pPr>
              <a:lnSpc>
                <a:spcPct val="130000"/>
              </a:lnSpc>
              <a:spcBef>
                <a:spcPts val="800"/>
              </a:spcBef>
              <a:defRPr sz="1800" b="1">
                <a:solidFill>
                  <a:srgbClr val="1E293B"/>
                </a:solidFill>
                <a:latin typeface="微软雅黑" panose="020B0503020204020204" charset="-122"/>
              </a:defRPr>
            </a:pPr>
            <a:r>
              <a:t>核心挑战：解决大规模城市路网（24.6万路段）的逻辑连通问题，克服由于 OSM 数据源导致的几何断裂。</a:t>
            </a:r>
          </a:p>
          <a:p>
            <a:pPr>
              <a:lnSpc>
                <a:spcPct val="130000"/>
              </a:lnSpc>
              <a:spcBef>
                <a:spcPts val="800"/>
              </a:spcBef>
              <a:defRPr sz="1800" b="1">
                <a:solidFill>
                  <a:srgbClr val="1E293B"/>
                </a:solidFill>
                <a:latin typeface="微软雅黑" panose="020B0503020204020204" charset="-122"/>
              </a:defRPr>
            </a:pPr>
            <a:r>
              <a:t>研究目标：构建一套具备动态交通感知、支持“最后一公里”接驳、提供量化服务区分析的决策支持系统。</a:t>
            </a:r>
          </a:p>
          <a:p>
            <a:pPr>
              <a:lnSpc>
                <a:spcPct val="130000"/>
              </a:lnSpc>
              <a:spcBef>
                <a:spcPts val="800"/>
              </a:spcBef>
              <a:defRPr sz="1800" b="1">
                <a:solidFill>
                  <a:srgbClr val="1E293B"/>
                </a:solidFill>
                <a:latin typeface="微软雅黑" panose="020B0503020204020204" charset="-122"/>
              </a:defRPr>
            </a:pPr>
            <a:r>
              <a:t>空间基准：统一采用 EPSG:3857 投影坐标系，确保全城范围内长度和距离计算误差最小化。</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Rectangle 3"/>
          <p:cNvSpPr/>
          <p:nvPr/>
        </p:nvSpPr>
        <p:spPr>
          <a:xfrm>
            <a:off x="0" y="0"/>
            <a:ext cx="12191695" cy="6858000"/>
          </a:xfrm>
          <a:prstGeom prst="rect">
            <a:avLst/>
          </a:prstGeom>
          <a:solidFill>
            <a:srgbClr val="F8FAFC"/>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31520"/>
          </a:xfrm>
          <a:prstGeom prst="rect">
            <a:avLst/>
          </a:prstGeom>
          <a:solidFill>
            <a:srgbClr val="0F766E"/>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7160"/>
            <a:ext cx="11277295" cy="457200"/>
          </a:xfrm>
          <a:prstGeom prst="rect">
            <a:avLst/>
          </a:prstGeom>
          <a:noFill/>
        </p:spPr>
        <p:txBody>
          <a:bodyPr wrap="none">
            <a:spAutoFit/>
          </a:bodyPr>
          <a:lstStyle/>
          <a:p>
            <a:pPr algn="l">
              <a:defRPr sz="2800" b="1">
                <a:solidFill>
                  <a:srgbClr val="FFFFFF"/>
                </a:solidFill>
              </a:defRPr>
            </a:pPr>
            <a:r>
              <a:t>02 系统整体架构设计</a:t>
            </a:r>
          </a:p>
        </p:txBody>
      </p:sp>
      <p:sp>
        <p:nvSpPr>
          <p:cNvPr id="7" name="Rounded Rectangle 6"/>
          <p:cNvSpPr/>
          <p:nvPr/>
        </p:nvSpPr>
        <p:spPr>
          <a:xfrm>
            <a:off x="411480" y="914400"/>
            <a:ext cx="11368735" cy="5623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143000"/>
            <a:ext cx="10728655" cy="5074920"/>
          </a:xfrm>
          <a:prstGeom prst="rect">
            <a:avLst/>
          </a:prstGeom>
          <a:noFill/>
        </p:spPr>
        <p:txBody>
          <a:bodyPr wrap="square">
            <a:spAutoFit/>
          </a:bodyPr>
          <a:lstStyle/>
          <a:p>
            <a:pPr>
              <a:lnSpc>
                <a:spcPct val="130000"/>
              </a:lnSpc>
              <a:spcBef>
                <a:spcPts val="800"/>
              </a:spcBef>
              <a:defRPr sz="1800" b="1">
                <a:solidFill>
                  <a:srgbClr val="1E293B"/>
                </a:solidFill>
                <a:latin typeface="微软雅黑" panose="020B0503020204020204" charset="-122"/>
              </a:defRPr>
            </a:pPr>
            <a:r>
              <a:t>表示层 (Frontend)：利用 Leaflet.js 地图引擎开发，采用现代简约的“玻璃拟态” UI，实现了响应式布局。</a:t>
            </a:r>
          </a:p>
          <a:p>
            <a:pPr>
              <a:lnSpc>
                <a:spcPct val="130000"/>
              </a:lnSpc>
              <a:spcBef>
                <a:spcPts val="800"/>
              </a:spcBef>
              <a:defRPr sz="1800" b="1">
                <a:solidFill>
                  <a:srgbClr val="1E293B"/>
                </a:solidFill>
                <a:latin typeface="微软雅黑" panose="020B0503020204020204" charset="-122"/>
              </a:defRPr>
            </a:pPr>
            <a:r>
              <a:t>业务逻辑层 (Backend)：基于 FastAPI 异步框架，封装了 pgr_dijkstra 和 pgr_drivingDistance 核心空间算法。</a:t>
            </a:r>
          </a:p>
          <a:p>
            <a:pPr>
              <a:lnSpc>
                <a:spcPct val="130000"/>
              </a:lnSpc>
              <a:spcBef>
                <a:spcPts val="800"/>
              </a:spcBef>
              <a:defRPr sz="1800" b="1">
                <a:solidFill>
                  <a:srgbClr val="1E293B"/>
                </a:solidFill>
                <a:latin typeface="微软雅黑" panose="020B0503020204020204" charset="-122"/>
              </a:defRPr>
            </a:pPr>
            <a:r>
              <a:t>数据存储层 (Database)：PostgreSQL + PostGIS 3 + pgRouting。存储、索引并计算福州全市域拓扑网络。</a:t>
            </a:r>
          </a:p>
          <a:p>
            <a:pPr>
              <a:lnSpc>
                <a:spcPct val="130000"/>
              </a:lnSpc>
              <a:spcBef>
                <a:spcPts val="800"/>
              </a:spcBef>
              <a:defRPr sz="1800" b="1">
                <a:solidFill>
                  <a:srgbClr val="1E293B"/>
                </a:solidFill>
                <a:latin typeface="微软雅黑" panose="020B0503020204020204" charset="-122"/>
              </a:defRPr>
            </a:pPr>
            <a:r>
              <a:t>核心工作流：前端发送交互经纬度坐标 -&gt; 后端坐标投影转换 -&gt; 数据库拓扑计算 -&gt; 返回 GeoJSON 结果 -&gt; 前端动态渲染。</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Rectangle 3"/>
          <p:cNvSpPr/>
          <p:nvPr/>
        </p:nvSpPr>
        <p:spPr>
          <a:xfrm>
            <a:off x="0" y="0"/>
            <a:ext cx="12191695" cy="6858000"/>
          </a:xfrm>
          <a:prstGeom prst="rect">
            <a:avLst/>
          </a:prstGeom>
          <a:solidFill>
            <a:srgbClr val="F8FAFC"/>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31520"/>
          </a:xfrm>
          <a:prstGeom prst="rect">
            <a:avLst/>
          </a:prstGeom>
          <a:solidFill>
            <a:srgbClr val="0F766E"/>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7160"/>
            <a:ext cx="11277295" cy="457200"/>
          </a:xfrm>
          <a:prstGeom prst="rect">
            <a:avLst/>
          </a:prstGeom>
          <a:noFill/>
        </p:spPr>
        <p:txBody>
          <a:bodyPr wrap="none">
            <a:spAutoFit/>
          </a:bodyPr>
          <a:lstStyle/>
          <a:p>
            <a:pPr algn="l">
              <a:defRPr sz="2800" b="1">
                <a:solidFill>
                  <a:srgbClr val="FFFFFF"/>
                </a:solidFill>
              </a:defRPr>
            </a:pPr>
            <a:r>
              <a:t>03 数据清洗与路网拓扑重构</a:t>
            </a:r>
          </a:p>
        </p:txBody>
      </p:sp>
      <p:sp>
        <p:nvSpPr>
          <p:cNvPr id="7" name="Rounded Rectangle 6"/>
          <p:cNvSpPr/>
          <p:nvPr/>
        </p:nvSpPr>
        <p:spPr>
          <a:xfrm>
            <a:off x="411480" y="914400"/>
            <a:ext cx="11368735" cy="5623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143000"/>
            <a:ext cx="10728655" cy="5074920"/>
          </a:xfrm>
          <a:prstGeom prst="rect">
            <a:avLst/>
          </a:prstGeom>
          <a:noFill/>
        </p:spPr>
        <p:txBody>
          <a:bodyPr wrap="square">
            <a:spAutoFit/>
          </a:bodyPr>
          <a:lstStyle/>
          <a:p>
            <a:pPr>
              <a:lnSpc>
                <a:spcPct val="130000"/>
              </a:lnSpc>
              <a:spcBef>
                <a:spcPts val="800"/>
              </a:spcBef>
              <a:defRPr sz="1800" b="1">
                <a:solidFill>
                  <a:srgbClr val="1E293B"/>
                </a:solidFill>
                <a:latin typeface="微软雅黑" panose="020B0503020204020204" charset="-122"/>
              </a:defRPr>
            </a:pPr>
            <a:r>
              <a:t>数据源解析：将原始 OSM Shapefile 文件导入 PostGIS，检查并统一 SRID。核心涉及线段数 246,649 条。</a:t>
            </a:r>
          </a:p>
          <a:p>
            <a:pPr>
              <a:lnSpc>
                <a:spcPct val="130000"/>
              </a:lnSpc>
              <a:spcBef>
                <a:spcPts val="800"/>
              </a:spcBef>
              <a:defRPr sz="1800" b="1">
                <a:solidFill>
                  <a:srgbClr val="1E293B"/>
                </a:solidFill>
                <a:latin typeface="微软雅黑" panose="020B0503020204020204" charset="-122"/>
              </a:defRPr>
            </a:pPr>
            <a:r>
              <a:t>几何网络化 (Noding)：利用 ST_Node 函数在所有物理交叉口强制生成焊点，将原始道路切断为独立的单段线（LineString）。</a:t>
            </a:r>
          </a:p>
          <a:p>
            <a:pPr>
              <a:lnSpc>
                <a:spcPct val="130000"/>
              </a:lnSpc>
              <a:spcBef>
                <a:spcPts val="800"/>
              </a:spcBef>
              <a:defRPr sz="1800" b="1">
                <a:solidFill>
                  <a:srgbClr val="1E293B"/>
                </a:solidFill>
                <a:latin typeface="微软雅黑" panose="020B0503020204020204" charset="-122"/>
              </a:defRPr>
            </a:pPr>
            <a:r>
              <a:t>杂质清洗：配合 ST_CollectionExtract(..., 2) 强制过滤打断过程中产生的孤立点（Points）或 GeometryCollection 报错体。</a:t>
            </a:r>
          </a:p>
          <a:p>
            <a:pPr>
              <a:lnSpc>
                <a:spcPct val="130000"/>
              </a:lnSpc>
              <a:spcBef>
                <a:spcPts val="800"/>
              </a:spcBef>
              <a:defRPr sz="1800" b="1">
                <a:solidFill>
                  <a:srgbClr val="1E293B"/>
                </a:solidFill>
                <a:latin typeface="微软雅黑" panose="020B0503020204020204" charset="-122"/>
              </a:defRPr>
            </a:pPr>
            <a:r>
              <a:t>顶点提取与去重：提取所有线段端点生成 vertices 表，并通过 ST_DISTINCT 进行几何去重，作为拓扑网路节点。</a:t>
            </a:r>
          </a:p>
          <a:p>
            <a:pPr>
              <a:lnSpc>
                <a:spcPct val="130000"/>
              </a:lnSpc>
              <a:spcBef>
                <a:spcPts val="800"/>
              </a:spcBef>
              <a:defRPr sz="1800" b="1">
                <a:solidFill>
                  <a:srgbClr val="1E293B"/>
                </a:solidFill>
                <a:latin typeface="微软雅黑" panose="020B0503020204020204" charset="-122"/>
              </a:defRPr>
            </a:pPr>
            <a:r>
              <a:t>焊接 source/target：手动将 clean 表的起点终点坐标与顶点表的 id 进行空间邻近映射（容差 0.1米），生成逻辑拓扑。</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Rectangle 3"/>
          <p:cNvSpPr/>
          <p:nvPr/>
        </p:nvSpPr>
        <p:spPr>
          <a:xfrm>
            <a:off x="0" y="0"/>
            <a:ext cx="12191695" cy="6858000"/>
          </a:xfrm>
          <a:prstGeom prst="rect">
            <a:avLst/>
          </a:prstGeom>
          <a:solidFill>
            <a:srgbClr val="F8FAFC"/>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31520"/>
          </a:xfrm>
          <a:prstGeom prst="rect">
            <a:avLst/>
          </a:prstGeom>
          <a:solidFill>
            <a:srgbClr val="0F766E"/>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7160"/>
            <a:ext cx="11277295" cy="457200"/>
          </a:xfrm>
          <a:prstGeom prst="rect">
            <a:avLst/>
          </a:prstGeom>
          <a:noFill/>
        </p:spPr>
        <p:txBody>
          <a:bodyPr wrap="none">
            <a:spAutoFit/>
          </a:bodyPr>
          <a:lstStyle/>
          <a:p>
            <a:pPr algn="l">
              <a:defRPr sz="2800" b="1">
                <a:solidFill>
                  <a:srgbClr val="FFFFFF"/>
                </a:solidFill>
              </a:defRPr>
            </a:pPr>
            <a:r>
              <a:t>04 核心算法实现：动态拥堵模拟</a:t>
            </a:r>
          </a:p>
        </p:txBody>
      </p:sp>
      <p:sp>
        <p:nvSpPr>
          <p:cNvPr id="7" name="Rounded Rectangle 6"/>
          <p:cNvSpPr/>
          <p:nvPr/>
        </p:nvSpPr>
        <p:spPr>
          <a:xfrm>
            <a:off x="411480" y="914400"/>
            <a:ext cx="11368735" cy="5623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143000"/>
            <a:ext cx="10728655" cy="5074920"/>
          </a:xfrm>
          <a:prstGeom prst="rect">
            <a:avLst/>
          </a:prstGeom>
          <a:noFill/>
        </p:spPr>
        <p:txBody>
          <a:bodyPr wrap="square">
            <a:spAutoFit/>
          </a:bodyPr>
          <a:lstStyle/>
          <a:p>
            <a:pPr>
              <a:lnSpc>
                <a:spcPct val="130000"/>
              </a:lnSpc>
              <a:spcBef>
                <a:spcPts val="800"/>
              </a:spcBef>
              <a:defRPr sz="1800" b="1">
                <a:solidFill>
                  <a:srgbClr val="1E293B"/>
                </a:solidFill>
                <a:latin typeface="微软雅黑" panose="020B0503020204020204" charset="-122"/>
              </a:defRPr>
            </a:pPr>
            <a:r>
              <a:t>NTILE 概率分布模型：针对主干道（primary），系统采用 3:4:3 的加权概率进行动态车流扰动模拟。</a:t>
            </a:r>
          </a:p>
          <a:p>
            <a:pPr>
              <a:lnSpc>
                <a:spcPct val="130000"/>
              </a:lnSpc>
              <a:spcBef>
                <a:spcPts val="800"/>
              </a:spcBef>
              <a:defRPr sz="1800" b="1">
                <a:solidFill>
                  <a:srgbClr val="1E293B"/>
                </a:solidFill>
                <a:latin typeface="微软雅黑" panose="020B0503020204020204" charset="-122"/>
              </a:defRPr>
            </a:pPr>
            <a:r>
              <a:t>- 30% 畅通路段：Traffic_Factor 设为固定的 1.0。</a:t>
            </a:r>
          </a:p>
          <a:p>
            <a:pPr>
              <a:lnSpc>
                <a:spcPct val="130000"/>
              </a:lnSpc>
              <a:spcBef>
                <a:spcPts val="800"/>
              </a:spcBef>
              <a:defRPr sz="1800" b="1">
                <a:solidFill>
                  <a:srgbClr val="1E293B"/>
                </a:solidFill>
                <a:latin typeface="微软雅黑" panose="020B0503020204020204" charset="-122"/>
              </a:defRPr>
            </a:pPr>
            <a:r>
              <a:t>- 40% 缓行路段：Traffic_Factor 赋予 1.0 到 2.0 之间的随机耗时倍率。</a:t>
            </a:r>
          </a:p>
          <a:p>
            <a:pPr>
              <a:lnSpc>
                <a:spcPct val="130000"/>
              </a:lnSpc>
              <a:spcBef>
                <a:spcPts val="800"/>
              </a:spcBef>
              <a:defRPr sz="1800" b="1">
                <a:solidFill>
                  <a:srgbClr val="1E293B"/>
                </a:solidFill>
                <a:latin typeface="微软雅黑" panose="020B0503020204020204" charset="-122"/>
              </a:defRPr>
            </a:pPr>
            <a:r>
              <a:t>- 30% 重度拥堵：Traffic_Factor 赋予 2.0 到 4.0 之间的随机高耗时倍率。</a:t>
            </a:r>
          </a:p>
          <a:p>
            <a:pPr>
              <a:lnSpc>
                <a:spcPct val="130000"/>
              </a:lnSpc>
              <a:spcBef>
                <a:spcPts val="800"/>
              </a:spcBef>
              <a:defRPr sz="1800" b="1">
                <a:solidFill>
                  <a:srgbClr val="1E293B"/>
                </a:solidFill>
                <a:latin typeface="微软雅黑" panose="020B0503020204020204" charset="-122"/>
              </a:defRPr>
            </a:pPr>
            <a:r>
              <a:t>动态耗时计算公式：Actual_Cost (秒) = Base_Length_m / (Default_Speed / 3.6) * Traffic_Factor。</a:t>
            </a:r>
          </a:p>
          <a:p>
            <a:pPr>
              <a:lnSpc>
                <a:spcPct val="130000"/>
              </a:lnSpc>
              <a:spcBef>
                <a:spcPts val="800"/>
              </a:spcBef>
              <a:defRPr sz="1800" b="1">
                <a:solidFill>
                  <a:srgbClr val="1E293B"/>
                </a:solidFill>
                <a:latin typeface="微软雅黑" panose="020B0503020204020204" charset="-122"/>
              </a:defRPr>
            </a:pPr>
            <a:r>
              <a:t>前端可视化：根据 factor 系数阈值，动态为路径渲染蓝色（畅通）、橙色（缓行）、红色（拥堵）。</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Rectangle 3"/>
          <p:cNvSpPr/>
          <p:nvPr/>
        </p:nvSpPr>
        <p:spPr>
          <a:xfrm>
            <a:off x="0" y="0"/>
            <a:ext cx="12191695" cy="6858000"/>
          </a:xfrm>
          <a:prstGeom prst="rect">
            <a:avLst/>
          </a:prstGeom>
          <a:solidFill>
            <a:srgbClr val="F8FAFC"/>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31520"/>
          </a:xfrm>
          <a:prstGeom prst="rect">
            <a:avLst/>
          </a:prstGeom>
          <a:solidFill>
            <a:srgbClr val="0F766E"/>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7160"/>
            <a:ext cx="11277295" cy="457200"/>
          </a:xfrm>
          <a:prstGeom prst="rect">
            <a:avLst/>
          </a:prstGeom>
          <a:noFill/>
        </p:spPr>
        <p:txBody>
          <a:bodyPr wrap="none">
            <a:spAutoFit/>
          </a:bodyPr>
          <a:lstStyle/>
          <a:p>
            <a:pPr algn="l">
              <a:defRPr sz="2800" b="1">
                <a:solidFill>
                  <a:srgbClr val="FFFFFF"/>
                </a:solidFill>
              </a:defRPr>
            </a:pPr>
            <a:r>
              <a:t>05 核心算法实现：多模态“最后一公里”</a:t>
            </a:r>
          </a:p>
        </p:txBody>
      </p:sp>
      <p:sp>
        <p:nvSpPr>
          <p:cNvPr id="7" name="Rounded Rectangle 6"/>
          <p:cNvSpPr/>
          <p:nvPr/>
        </p:nvSpPr>
        <p:spPr>
          <a:xfrm>
            <a:off x="411480" y="914400"/>
            <a:ext cx="11368735" cy="5623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143000"/>
            <a:ext cx="10728655" cy="5074920"/>
          </a:xfrm>
          <a:prstGeom prst="rect">
            <a:avLst/>
          </a:prstGeom>
          <a:noFill/>
        </p:spPr>
        <p:txBody>
          <a:bodyPr wrap="square">
            <a:spAutoFit/>
          </a:bodyPr>
          <a:lstStyle/>
          <a:p>
            <a:pPr>
              <a:lnSpc>
                <a:spcPct val="130000"/>
              </a:lnSpc>
              <a:spcBef>
                <a:spcPts val="800"/>
              </a:spcBef>
              <a:defRPr sz="1800" b="1">
                <a:solidFill>
                  <a:srgbClr val="1E293B"/>
                </a:solidFill>
                <a:latin typeface="微软雅黑" panose="020B0503020204020204" charset="-122"/>
              </a:defRPr>
            </a:pPr>
            <a:r>
              <a:t>业务痛点：解决校内、公园、步行街等车辆无法直达区域的路径规划需求。我们在 SQL 中设定 cost_car_s = -1。</a:t>
            </a:r>
          </a:p>
          <a:p>
            <a:pPr>
              <a:lnSpc>
                <a:spcPct val="130000"/>
              </a:lnSpc>
              <a:spcBef>
                <a:spcPts val="800"/>
              </a:spcBef>
              <a:defRPr sz="1800" b="1">
                <a:solidFill>
                  <a:srgbClr val="1E293B"/>
                </a:solidFill>
                <a:latin typeface="微软雅黑" panose="020B0503020204020204" charset="-122"/>
              </a:defRPr>
            </a:pPr>
            <a:r>
              <a:t>双点捕获逻辑：系统在接收目标坐标时，同时寻找离其最近的“可驾车节点”和“全路网节点”。</a:t>
            </a:r>
          </a:p>
          <a:p>
            <a:pPr>
              <a:lnSpc>
                <a:spcPct val="130000"/>
              </a:lnSpc>
              <a:spcBef>
                <a:spcPts val="800"/>
              </a:spcBef>
              <a:defRPr sz="1800" b="1">
                <a:solidFill>
                  <a:srgbClr val="1E293B"/>
                </a:solidFill>
                <a:latin typeface="微软雅黑" panose="020B0503020204020204" charset="-122"/>
              </a:defRPr>
            </a:pPr>
            <a:r>
              <a:t>阈值触发机制：若目的地属于禁行区且离最近停车点的步行距离小于 1000米（可调阈值），自动拆分路径。</a:t>
            </a:r>
          </a:p>
          <a:p>
            <a:pPr>
              <a:lnSpc>
                <a:spcPct val="130000"/>
              </a:lnSpc>
              <a:spcBef>
                <a:spcPts val="800"/>
              </a:spcBef>
              <a:defRPr sz="1800" b="1">
                <a:solidFill>
                  <a:srgbClr val="1E293B"/>
                </a:solidFill>
                <a:latin typeface="微软雅黑" panose="020B0503020204020204" charset="-122"/>
              </a:defRPr>
            </a:pPr>
            <a:r>
              <a:t>复合算法流程：后端的路径 FeatureCollection 将由两段 Dijkstra 计算结果聚合而成。A 段：起点到停车点的驾车耗时段；B 段：停车点到目标的步行段。</a:t>
            </a:r>
          </a:p>
          <a:p>
            <a:pPr>
              <a:lnSpc>
                <a:spcPct val="130000"/>
              </a:lnSpc>
              <a:spcBef>
                <a:spcPts val="800"/>
              </a:spcBef>
              <a:defRPr sz="1800" b="1">
                <a:solidFill>
                  <a:srgbClr val="1E293B"/>
                </a:solidFill>
                <a:latin typeface="微软雅黑" panose="020B0503020204020204" charset="-122"/>
              </a:defRPr>
            </a:pPr>
            <a:r>
              <a:t>语义化可视化：前端通过实线展示驾车段，通过👣 Emoji 图标和虚线组合展示步行段。</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Rectangle 3"/>
          <p:cNvSpPr/>
          <p:nvPr/>
        </p:nvSpPr>
        <p:spPr>
          <a:xfrm>
            <a:off x="0" y="0"/>
            <a:ext cx="12191695" cy="6858000"/>
          </a:xfrm>
          <a:prstGeom prst="rect">
            <a:avLst/>
          </a:prstGeom>
          <a:solidFill>
            <a:srgbClr val="F8FAFC"/>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31520"/>
          </a:xfrm>
          <a:prstGeom prst="rect">
            <a:avLst/>
          </a:prstGeom>
          <a:solidFill>
            <a:srgbClr val="0F766E"/>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7160"/>
            <a:ext cx="11277295" cy="457200"/>
          </a:xfrm>
          <a:prstGeom prst="rect">
            <a:avLst/>
          </a:prstGeom>
          <a:noFill/>
        </p:spPr>
        <p:txBody>
          <a:bodyPr wrap="none">
            <a:spAutoFit/>
          </a:bodyPr>
          <a:lstStyle/>
          <a:p>
            <a:pPr algn="l">
              <a:defRPr sz="2800" b="1">
                <a:solidFill>
                  <a:srgbClr val="FFFFFF"/>
                </a:solidFill>
              </a:defRPr>
            </a:pPr>
            <a:r>
              <a:t>06 前端交互与系统帮助指南</a:t>
            </a:r>
          </a:p>
        </p:txBody>
      </p:sp>
      <p:sp>
        <p:nvSpPr>
          <p:cNvPr id="7" name="Rounded Rectangle 6"/>
          <p:cNvSpPr/>
          <p:nvPr/>
        </p:nvSpPr>
        <p:spPr>
          <a:xfrm>
            <a:off x="411480" y="914400"/>
            <a:ext cx="11368735" cy="5623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143000"/>
            <a:ext cx="10728655" cy="5074920"/>
          </a:xfrm>
          <a:prstGeom prst="rect">
            <a:avLst/>
          </a:prstGeom>
          <a:noFill/>
        </p:spPr>
        <p:txBody>
          <a:bodyPr wrap="square">
            <a:spAutoFit/>
          </a:bodyPr>
          <a:lstStyle/>
          <a:p>
            <a:pPr>
              <a:lnSpc>
                <a:spcPct val="130000"/>
              </a:lnSpc>
              <a:spcBef>
                <a:spcPts val="800"/>
              </a:spcBef>
              <a:defRPr sz="1800" b="1">
                <a:solidFill>
                  <a:srgbClr val="1E293B"/>
                </a:solidFill>
                <a:latin typeface="微软雅黑" panose="020B0503020204020204" charset="-122"/>
              </a:defRPr>
            </a:pPr>
            <a:r>
              <a:t>计算引擎：调用 pgr_drivingDistance 算法，给定中心起点，计算其在 900s, 1800s, 3600s, 7200s 内所有能到达的路网节点ID。</a:t>
            </a:r>
          </a:p>
          <a:p>
            <a:pPr>
              <a:lnSpc>
                <a:spcPct val="130000"/>
              </a:lnSpc>
              <a:spcBef>
                <a:spcPts val="800"/>
              </a:spcBef>
              <a:defRPr sz="1800" b="1">
                <a:solidFill>
                  <a:srgbClr val="1E293B"/>
                </a:solidFill>
                <a:latin typeface="微软雅黑" panose="020B0503020204020204" charset="-122"/>
              </a:defRPr>
            </a:pPr>
            <a:r>
              <a:t>空间聚合 (Concave Hull)：通过 JOIN 顶点表获取坐标，并利用 ST_ConcaveHull(geom, 0.9) 函数生成包络该散点组势力范围的平滑多边形。</a:t>
            </a:r>
          </a:p>
          <a:p>
            <a:pPr>
              <a:lnSpc>
                <a:spcPct val="130000"/>
              </a:lnSpc>
              <a:spcBef>
                <a:spcPts val="800"/>
              </a:spcBef>
              <a:defRPr sz="1800" b="1">
                <a:solidFill>
                  <a:srgbClr val="1E293B"/>
                </a:solidFill>
                <a:latin typeface="微软雅黑" panose="020B0503020204020204" charset="-122"/>
              </a:defRPr>
            </a:pPr>
            <a:r>
              <a:t>热力阶梯可视化：前端依次加载 15min、30min、60min、120min 四个多边形图层，通过色彩色调和递减的透明度（0.6 -&gt; 0.2）形成向外扩散的“热力图”视觉。</a:t>
            </a:r>
          </a:p>
          <a:p>
            <a:pPr>
              <a:lnSpc>
                <a:spcPct val="130000"/>
              </a:lnSpc>
              <a:spcBef>
                <a:spcPts val="800"/>
              </a:spcBef>
              <a:defRPr sz="1800" b="1">
                <a:solidFill>
                  <a:srgbClr val="1E293B"/>
                </a:solidFill>
                <a:latin typeface="微软雅黑" panose="020B0503020204020204" charset="-122"/>
              </a:defRPr>
            </a:pPr>
            <a:r>
              <a:t>多模式互斥：前端实现了Radio按钮逻辑，强制用户在驾车可达性和步行可达性分析之间二选一，确保界面清晰。</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Rectangle 3"/>
          <p:cNvSpPr/>
          <p:nvPr/>
        </p:nvSpPr>
        <p:spPr>
          <a:xfrm>
            <a:off x="0" y="0"/>
            <a:ext cx="12191695" cy="6858000"/>
          </a:xfrm>
          <a:prstGeom prst="rect">
            <a:avLst/>
          </a:prstGeom>
          <a:solidFill>
            <a:srgbClr val="F8FAFC"/>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31520"/>
          </a:xfrm>
          <a:prstGeom prst="rect">
            <a:avLst/>
          </a:prstGeom>
          <a:solidFill>
            <a:srgbClr val="0F766E"/>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7160"/>
            <a:ext cx="11277295" cy="457200"/>
          </a:xfrm>
          <a:prstGeom prst="rect">
            <a:avLst/>
          </a:prstGeom>
          <a:noFill/>
        </p:spPr>
        <p:txBody>
          <a:bodyPr wrap="none">
            <a:spAutoFit/>
          </a:bodyPr>
          <a:lstStyle/>
          <a:p>
            <a:pPr algn="l">
              <a:defRPr sz="2800" b="1">
                <a:solidFill>
                  <a:srgbClr val="FFFFFF"/>
                </a:solidFill>
              </a:defRPr>
            </a:pPr>
            <a:r>
              <a:t>07 前端交互与系统帮助指南</a:t>
            </a:r>
          </a:p>
        </p:txBody>
      </p:sp>
      <p:sp>
        <p:nvSpPr>
          <p:cNvPr id="7" name="Rounded Rectangle 6"/>
          <p:cNvSpPr/>
          <p:nvPr/>
        </p:nvSpPr>
        <p:spPr>
          <a:xfrm>
            <a:off x="411480" y="914400"/>
            <a:ext cx="11368735" cy="5623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143000"/>
            <a:ext cx="10728655" cy="5074920"/>
          </a:xfrm>
          <a:prstGeom prst="rect">
            <a:avLst/>
          </a:prstGeom>
          <a:noFill/>
        </p:spPr>
        <p:txBody>
          <a:bodyPr wrap="square">
            <a:spAutoFit/>
          </a:bodyPr>
          <a:lstStyle/>
          <a:p>
            <a:pPr>
              <a:lnSpc>
                <a:spcPct val="130000"/>
              </a:lnSpc>
              <a:spcBef>
                <a:spcPts val="800"/>
              </a:spcBef>
              <a:defRPr sz="1800" b="1">
                <a:solidFill>
                  <a:srgbClr val="1E293B"/>
                </a:solidFill>
                <a:latin typeface="微软雅黑" panose="020B0503020204020204" charset="-122"/>
              </a:defRPr>
            </a:pPr>
            <a:r>
              <a:t>右侧长条面板：彻底重构缓冲区搜索结果展示。采用 groupByCategory 算法在前端对海量 POI 进行分类折叠展示。</a:t>
            </a:r>
          </a:p>
          <a:p>
            <a:pPr>
              <a:lnSpc>
                <a:spcPct val="130000"/>
              </a:lnSpc>
              <a:spcBef>
                <a:spcPts val="800"/>
              </a:spcBef>
              <a:defRPr sz="1800" b="1">
                <a:solidFill>
                  <a:srgbClr val="1E293B"/>
                </a:solidFill>
                <a:latin typeface="微软雅黑" panose="020B0503020204020204" charset="-122"/>
              </a:defRPr>
            </a:pPr>
            <a:r>
              <a:t>分类图例：醫療卫生(红十字)、教育科研(书本)、休闲服务(绿叶)。极大丰富了信息展示维度。</a:t>
            </a:r>
          </a:p>
          <a:p>
            <a:pPr>
              <a:lnSpc>
                <a:spcPct val="130000"/>
              </a:lnSpc>
              <a:spcBef>
                <a:spcPts val="800"/>
              </a:spcBef>
              <a:defRPr sz="1800" b="1">
                <a:solidFill>
                  <a:srgbClr val="1E293B"/>
                </a:solidFill>
                <a:latin typeface="微软雅黑" panose="020B0503020204020204" charset="-122"/>
              </a:defRPr>
            </a:pPr>
            <a:r>
              <a:t>交互一键联动：点击侧边栏列表项，地图 flyTo 并弹出 Popup；点击Popup内“到这去”，自动触发路径规划 API。</a:t>
            </a:r>
          </a:p>
          <a:p>
            <a:pPr>
              <a:lnSpc>
                <a:spcPct val="130000"/>
              </a:lnSpc>
              <a:spcBef>
                <a:spcPts val="800"/>
              </a:spcBef>
              <a:defRPr sz="1800" b="1">
                <a:solidFill>
                  <a:srgbClr val="1E293B"/>
                </a:solidFill>
                <a:latin typeface="微软雅黑" panose="020B0503020204020204" charset="-122"/>
              </a:defRPr>
            </a:pPr>
            <a:r>
              <a:t>💡系统帮助 Modal：内置美观的用户指南，详细解释了图标含义（蓝/橙/红路况，👣步行标）、缓冲区设置、等时圈图例以及“如何选取虚拟起点”的操作步骤。</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Rectangle 3"/>
          <p:cNvSpPr/>
          <p:nvPr/>
        </p:nvSpPr>
        <p:spPr>
          <a:xfrm>
            <a:off x="0" y="0"/>
            <a:ext cx="12191695" cy="6858000"/>
          </a:xfrm>
          <a:prstGeom prst="rect">
            <a:avLst/>
          </a:prstGeom>
          <a:solidFill>
            <a:srgbClr val="F8FAFC"/>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31520"/>
          </a:xfrm>
          <a:prstGeom prst="rect">
            <a:avLst/>
          </a:prstGeom>
          <a:solidFill>
            <a:srgbClr val="0F766E"/>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7160"/>
            <a:ext cx="11277295" cy="457200"/>
          </a:xfrm>
          <a:prstGeom prst="rect">
            <a:avLst/>
          </a:prstGeom>
          <a:noFill/>
        </p:spPr>
        <p:txBody>
          <a:bodyPr wrap="none">
            <a:spAutoFit/>
          </a:bodyPr>
          <a:lstStyle/>
          <a:p>
            <a:pPr algn="l">
              <a:defRPr sz="2800" b="1">
                <a:solidFill>
                  <a:srgbClr val="FFFFFF"/>
                </a:solidFill>
              </a:defRPr>
            </a:pPr>
            <a:r>
              <a:t>08 结论与未来展望</a:t>
            </a:r>
          </a:p>
        </p:txBody>
      </p:sp>
      <p:sp>
        <p:nvSpPr>
          <p:cNvPr id="7" name="Rounded Rectangle 6"/>
          <p:cNvSpPr/>
          <p:nvPr/>
        </p:nvSpPr>
        <p:spPr>
          <a:xfrm>
            <a:off x="411480" y="914400"/>
            <a:ext cx="11368735" cy="5623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143000"/>
            <a:ext cx="10728655" cy="5074920"/>
          </a:xfrm>
          <a:prstGeom prst="rect">
            <a:avLst/>
          </a:prstGeom>
          <a:noFill/>
        </p:spPr>
        <p:txBody>
          <a:bodyPr wrap="square">
            <a:spAutoFit/>
          </a:bodyPr>
          <a:lstStyle/>
          <a:p>
            <a:pPr>
              <a:lnSpc>
                <a:spcPct val="130000"/>
              </a:lnSpc>
              <a:spcBef>
                <a:spcPts val="800"/>
              </a:spcBef>
              <a:defRPr sz="1800" b="1">
                <a:solidFill>
                  <a:srgbClr val="1E293B"/>
                </a:solidFill>
                <a:latin typeface="微软雅黑" panose="020B0503020204020204" charset="-122"/>
              </a:defRPr>
            </a:pPr>
            <a:r>
              <a:t>研究总结：构建了福州全市域 100% 连通的路网拓扑网络，成功实现了考虑动态拥堵和最后一公里步行接驳的空间决策支持系统。</a:t>
            </a:r>
          </a:p>
          <a:p>
            <a:pPr>
              <a:lnSpc>
                <a:spcPct val="130000"/>
              </a:lnSpc>
              <a:spcBef>
                <a:spcPts val="800"/>
              </a:spcBef>
              <a:defRPr sz="1800" b="1">
                <a:solidFill>
                  <a:srgbClr val="1E293B"/>
                </a:solidFill>
                <a:latin typeface="微软雅黑" panose="020B0503020204020204" charset="-122"/>
              </a:defRPr>
            </a:pPr>
            <a:r>
              <a:t>功能实现：完成 24万级路段的秒级路径规划服务，以及 15-120 分钟多层级等时圈分析可视化。</a:t>
            </a:r>
          </a:p>
          <a:p>
            <a:pPr>
              <a:lnSpc>
                <a:spcPct val="130000"/>
              </a:lnSpc>
              <a:spcBef>
                <a:spcPts val="800"/>
              </a:spcBef>
              <a:defRPr sz="1800" b="1">
                <a:solidFill>
                  <a:srgbClr val="1E293B"/>
                </a:solidFill>
                <a:latin typeface="微软雅黑" panose="020B0503020204020204" charset="-122"/>
              </a:defRPr>
            </a:pPr>
            <a:r>
              <a:t>未来计划：接入真实交通流大数据 API 替换 NTILE 模拟模型；引入公交、地铁的多模态多标准路径换乘算法。</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pPr algn="ctr">
              <a:defRPr sz="4000" b="1">
                <a:solidFill>
                  <a:srgbClr val="0F766E"/>
                </a:solidFill>
                <a:latin typeface="微软雅黑" panose="020B0503020204020204" charset="-122"/>
              </a:defRPr>
            </a:pPr>
            <a:r>
              <a:t>Q &amp; A</a:t>
            </a:r>
          </a:p>
          <a:p>
            <a:pPr algn="ctr">
              <a:defRPr sz="3000" b="0">
                <a:solidFill>
                  <a:srgbClr val="475569"/>
                </a:solidFill>
                <a:latin typeface="微软雅黑" panose="020B0503020204020204" charset="-122"/>
              </a:defRPr>
            </a:pPr>
            <a:r>
              <a:t>感谢聆听，欢迎提问！</a:t>
            </a:r>
          </a:p>
        </p:txBody>
      </p:sp>
      <p:sp>
        <p:nvSpPr>
          <p:cNvPr id="3" name="Text Placeholder 2"/>
          <p:cNvSpPr>
            <a:spLocks noGrp="1"/>
          </p:cNvSpPr>
          <p:nvPr>
            <p:ph type="body" idx="1"/>
          </p:nvPr>
        </p:nvSpPr>
        <p:spPr/>
        <p:txBody>
          <a:bodyPr/>
          <a:lstStyle/>
          <a:p/>
        </p:txBody>
      </p:sp>
      <p:sp>
        <p:nvSpPr>
          <p:cNvPr id="4" name="Rectangle 3"/>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2339</Words>
  <Application>WPS 演示</Application>
  <PresentationFormat>On-screen Show (4:3)</PresentationFormat>
  <Paragraphs>68</Paragraphs>
  <Slides>10</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10</vt:i4>
      </vt:variant>
    </vt:vector>
  </HeadingPairs>
  <TitlesOfParts>
    <vt:vector size="18" baseType="lpstr">
      <vt:lpstr>Arial</vt:lpstr>
      <vt:lpstr>宋体</vt:lpstr>
      <vt:lpstr>Wingdings</vt:lpstr>
      <vt:lpstr>Arial</vt:lpstr>
      <vt:lpstr>微软雅黑</vt:lpstr>
      <vt:lpstr>Calibri</vt:lpstr>
      <vt:lpstr>Arial Unicode MS</vt:lpstr>
      <vt:lpstr>Office Theme</vt:lpstr>
      <vt:lpstr>福州市公共服务设施可达性分析与多模态路径规划平台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感谢聆听，欢迎提问！</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范臻</cp:lastModifiedBy>
  <cp:revision>2</cp:revision>
  <dcterms:created xsi:type="dcterms:W3CDTF">2013-01-27T09:14:00Z</dcterms:created>
  <dcterms:modified xsi:type="dcterms:W3CDTF">2026-03-30T17:33:23Z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9208580F644941828EBF89E0247A9F84_12</vt:lpwstr>
  </property>
  <property fmtid="{D5CDD505-2E9C-101B-9397-08002B2CF9AE}" pid="3" name="KSOProductBuildVer">
    <vt:lpwstr>2052-12.1.0.23542</vt:lpwstr>
  </property>
</Properties>
</file>